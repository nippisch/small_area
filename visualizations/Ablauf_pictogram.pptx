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63"/>
    <p:restoredTop sz="94692"/>
  </p:normalViewPr>
  <p:slideViewPr>
    <p:cSldViewPr snapToGrid="0">
      <p:cViewPr varScale="1">
        <p:scale>
          <a:sx n="113" d="100"/>
          <a:sy n="113" d="100"/>
        </p:scale>
        <p:origin x="18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F2839B-648C-4EBE-B06E-781EBD614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8AB4BBA-D033-AE23-5563-AB937DAF2F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0E1680-0E1C-7AAF-2D7B-0A4B8F5DA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1A335-6583-F348-B14D-450E0383F1DA}" type="datetimeFigureOut">
              <a:rPr lang="de-DE" smtClean="0"/>
              <a:t>13.01.26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4DB51C-2630-EDBB-DE13-6C0CB4F0E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1A5AFC1-0B93-7A3E-3B33-D66A41AF5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5FC99-697A-384F-9AB8-5BB1A35E098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1724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187BF9-7F5B-D371-0FEF-570525048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19532F-58E7-37D3-AF76-1B3EB38AD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3CBFA9E-6179-58E5-17B3-EDB98B4AF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1A335-6583-F348-B14D-450E0383F1DA}" type="datetimeFigureOut">
              <a:rPr lang="de-DE" smtClean="0"/>
              <a:t>13.01.26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C55BC6-D007-2522-D7DA-A65E0762E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C23410-8E04-9E2A-A2B6-B3C1647D7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5FC99-697A-384F-9AB8-5BB1A35E098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5695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B424D5-8610-D434-28E1-464758A3C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330ACAD-96F9-1D4C-4FF7-F32BD1E50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2706E2-8422-BE31-899F-20969FBCA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1A335-6583-F348-B14D-450E0383F1DA}" type="datetimeFigureOut">
              <a:rPr lang="de-DE" smtClean="0"/>
              <a:t>13.01.26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28D8C6-0AF7-F691-5E14-6A4EE81D8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81D113-069F-B51D-11DA-D62C9E5E4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5FC99-697A-384F-9AB8-5BB1A35E098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2304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A14E5D-621C-6D62-4EA0-F0FA537E7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202501-7C9C-5E23-2B42-ADE34F36AD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552E748-45C7-ACF4-64B4-6216AE9261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453B87A-43C7-4179-6127-DE7789B71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1A335-6583-F348-B14D-450E0383F1DA}" type="datetimeFigureOut">
              <a:rPr lang="de-DE" smtClean="0"/>
              <a:t>13.01.26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7BABDDD-5654-434E-609D-A0B08948F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6961BB8-7552-7C23-C345-AF83C1CF5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5FC99-697A-384F-9AB8-5BB1A35E098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3047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2A2D30-E005-BB13-D2D0-55FB247BE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EABFE4F-761B-17CF-A83B-072AA67B8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1A696AB-9691-C473-3DED-5F656B6CE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3833595-46E6-524F-0850-A99C63A910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D7B7DA4-CD20-C559-5046-C06884FB3B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CD1ED21-17D4-4D93-F681-7BD6558AB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1A335-6583-F348-B14D-450E0383F1DA}" type="datetimeFigureOut">
              <a:rPr lang="de-DE" smtClean="0"/>
              <a:t>13.01.26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FFEB4D2-2837-0AC2-DE52-520B94515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8C7DAF9-3428-985A-F938-B71270B85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5FC99-697A-384F-9AB8-5BB1A35E098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6152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DE1642-8BDF-C720-C35C-DA2893722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0498E1E-5B77-93EF-F2E0-F64126F54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1A335-6583-F348-B14D-450E0383F1DA}" type="datetimeFigureOut">
              <a:rPr lang="de-DE" smtClean="0"/>
              <a:t>13.01.26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331200C-EE65-8E8D-5F06-4EAF13B7B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D5233C3-B6EC-1C30-9C54-B2C138CB7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5FC99-697A-384F-9AB8-5BB1A35E098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0790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FAC4C88-32D3-4A2D-404E-6682165D0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1A335-6583-F348-B14D-450E0383F1DA}" type="datetimeFigureOut">
              <a:rPr lang="de-DE" smtClean="0"/>
              <a:t>13.01.26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C3C1751-8A47-3E97-6FFB-0B187E13F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FDDB609-6A17-38B1-384E-F792E255A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5FC99-697A-384F-9AB8-5BB1A35E098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84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A00683-8344-633B-F3A1-D1732824C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3B3EC9-D9A9-C3B7-1816-0635298D3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22FBF9A-5A2B-C6F0-7C02-679B83E45E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D7B7C6F-27AA-AC1A-0B03-30919897E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1A335-6583-F348-B14D-450E0383F1DA}" type="datetimeFigureOut">
              <a:rPr lang="de-DE" smtClean="0"/>
              <a:t>13.01.26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A240939-8BE0-7F3B-97A6-8FD6BDC46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69A06CF-345C-BC20-C822-B52DE3B47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5FC99-697A-384F-9AB8-5BB1A35E098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0189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A0C218-6FB2-075C-DE66-26AA1B07F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1D9D830-CD9A-E49F-46AC-27788D589D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93B554B-77C4-0B45-6FF3-5553B022F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3286181-6481-16B6-E97B-2DDC78E33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1A335-6583-F348-B14D-450E0383F1DA}" type="datetimeFigureOut">
              <a:rPr lang="de-DE" smtClean="0"/>
              <a:t>13.01.26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7B62A27-81F3-1069-C682-06CDB7494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457B370-05FD-8308-BF3C-D6372440C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5FC99-697A-384F-9AB8-5BB1A35E098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8872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F98A2D-411E-E764-6A65-02AB4BD09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459F8C4-370C-BCA0-3597-824FF11EC8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349C10-32A9-CDF5-BF69-2F205694F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1A335-6583-F348-B14D-450E0383F1DA}" type="datetimeFigureOut">
              <a:rPr lang="de-DE" smtClean="0"/>
              <a:t>13.01.26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74FFBAF-2A7F-896D-630C-5590C917A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3EE884-5914-CA86-2F44-2705F0C94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5FC99-697A-384F-9AB8-5BB1A35E098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4056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E0DC7E2-AB59-A993-5A5A-B71103EF69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5033984-0F9F-FD35-2F45-EED93A0F6E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A5CB5C-5175-2D2A-76C1-B0A568029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1A335-6583-F348-B14D-450E0383F1DA}" type="datetimeFigureOut">
              <a:rPr lang="de-DE" smtClean="0"/>
              <a:t>13.01.26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5D99F7-DA15-2973-7E2B-B7CEC465F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480677-895D-6FFF-CF09-00EB0E354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5FC99-697A-384F-9AB8-5BB1A35E098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0607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CD66ADA-4864-0640-155B-F566C2E20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3D0F86F-4714-87D6-DC3E-9101B82B2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D4999B-0972-05A3-9335-2482E4E78E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91A335-6583-F348-B14D-450E0383F1DA}" type="datetimeFigureOut">
              <a:rPr lang="de-DE" smtClean="0"/>
              <a:t>13.01.26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C085CED-1B83-0C1C-9F0D-DA56BE9C61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2867DD-3DCD-9EE5-91D3-ED1E26F70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15FC99-697A-384F-9AB8-5BB1A35E098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179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48023496-18EB-534D-3A46-344B8B706FC3}"/>
              </a:ext>
            </a:extLst>
          </p:cNvPr>
          <p:cNvSpPr txBox="1"/>
          <p:nvPr/>
        </p:nvSpPr>
        <p:spPr>
          <a:xfrm>
            <a:off x="1102551" y="1878808"/>
            <a:ext cx="22061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noProof="0"/>
              <a:t>Uniform distribution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0130FCD-FCF1-EF0C-B9AC-2275D8BE1FC1}"/>
              </a:ext>
            </a:extLst>
          </p:cNvPr>
          <p:cNvSpPr txBox="1"/>
          <p:nvPr/>
        </p:nvSpPr>
        <p:spPr>
          <a:xfrm>
            <a:off x="3597601" y="1878808"/>
            <a:ext cx="22061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noProof="0"/>
              <a:t>Gamma distribution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4B81980-5210-69D9-9C80-1E88DCE0F0FB}"/>
              </a:ext>
            </a:extLst>
          </p:cNvPr>
          <p:cNvSpPr txBox="1"/>
          <p:nvPr/>
        </p:nvSpPr>
        <p:spPr>
          <a:xfrm>
            <a:off x="5949886" y="1878808"/>
            <a:ext cx="2452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noProof="0"/>
              <a:t>Lognormal distribution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9AB5A07-8BEB-8C74-9518-0AA86AFF62E5}"/>
              </a:ext>
            </a:extLst>
          </p:cNvPr>
          <p:cNvSpPr txBox="1"/>
          <p:nvPr/>
        </p:nvSpPr>
        <p:spPr>
          <a:xfrm>
            <a:off x="8548912" y="1878808"/>
            <a:ext cx="3084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noProof="0"/>
              <a:t>Distribution by Jenkins (2009)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FFA99CAB-8716-5AE0-4268-09B31AC2A033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 flipH="1">
            <a:off x="2205637" y="878874"/>
            <a:ext cx="3890363" cy="9999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18BBC958-A314-5EB0-44B9-15EC411E3C7F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 flipH="1">
            <a:off x="4700687" y="878874"/>
            <a:ext cx="1395313" cy="9999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B9A4D0F5-C8FB-249E-EBFB-38F2F36EB9DE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>
            <a:off x="6096000" y="878874"/>
            <a:ext cx="1080342" cy="9999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2A8F1355-9C05-D78E-CB98-E5EAB2351BBB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>
            <a:off x="6096000" y="878874"/>
            <a:ext cx="3995055" cy="9999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7DB62530-C3B6-5D71-E611-C3488C68167C}"/>
                  </a:ext>
                </a:extLst>
              </p:cNvPr>
              <p:cNvSpPr txBox="1"/>
              <p:nvPr/>
            </p:nvSpPr>
            <p:spPr>
              <a:xfrm>
                <a:off x="958814" y="3026474"/>
                <a:ext cx="1027437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per distribution: </a:t>
                </a:r>
                <a:r>
                  <a:rPr lang="en-US" sz="1400" b="1" dirty="0"/>
                  <a:t>Monte Carlo Simulation </a:t>
                </a:r>
                <a:r>
                  <a:rPr lang="en-US" sz="1400" dirty="0"/>
                  <a:t>with </a:t>
                </a:r>
                <a:r>
                  <a:rPr lang="en-US" sz="1400" i="1" dirty="0"/>
                  <a:t>R</a:t>
                </a:r>
                <a:r>
                  <a:rPr lang="en-US" sz="1400" dirty="0"/>
                  <a:t> = 500 iterations:</a:t>
                </a:r>
              </a:p>
              <a:p>
                <a:pPr algn="ctr"/>
                <a:r>
                  <a:rPr lang="en-US" sz="1400" b="1" noProof="0" dirty="0"/>
                  <a:t>Simple random sampling </a:t>
                </a:r>
                <a:r>
                  <a:rPr lang="en-US" sz="1400" noProof="0" dirty="0"/>
                  <a:t>(</a:t>
                </a:r>
                <a:r>
                  <a:rPr lang="en-US" sz="1400" i="1" noProof="0" dirty="0"/>
                  <a:t>n</a:t>
                </a:r>
                <a:r>
                  <a:rPr lang="en-US" sz="1400" noProof="0" dirty="0"/>
                  <a:t> = 1,000) in </a:t>
                </a:r>
                <a:r>
                  <a:rPr lang="en-US" sz="1400" b="1" noProof="0" dirty="0"/>
                  <a:t>four domains with different sample sizes</a:t>
                </a:r>
                <a:r>
                  <a:rPr lang="en-US" sz="1400" noProof="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noProof="0" smtClean="0">
                        <a:latin typeface="Cambria Math" panose="02040503050406030204" pitchFamily="18" charset="0"/>
                      </a:rPr>
                      <m:t>=50,</m:t>
                    </m:r>
                  </m:oMath>
                </a14:m>
                <a:r>
                  <a:rPr lang="en-US" sz="1400" noProof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b="0" i="1" noProof="0" smtClean="0">
                        <a:latin typeface="Cambria Math" panose="02040503050406030204" pitchFamily="18" charset="0"/>
                      </a:rPr>
                      <m:t>=100,</m:t>
                    </m:r>
                  </m:oMath>
                </a14:m>
                <a:r>
                  <a:rPr lang="en-US" sz="1400" noProof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400" b="0" i="1" noProof="0" smtClean="0">
                        <a:latin typeface="Cambria Math" panose="02040503050406030204" pitchFamily="18" charset="0"/>
                      </a:rPr>
                      <m:t>=250,</m:t>
                    </m:r>
                  </m:oMath>
                </a14:m>
                <a:r>
                  <a:rPr lang="en-US" sz="1400" noProof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1400" b="0" i="1" noProof="0" smtClean="0">
                        <a:latin typeface="Cambria Math" panose="02040503050406030204" pitchFamily="18" charset="0"/>
                      </a:rPr>
                      <m:t>=600</m:t>
                    </m:r>
                  </m:oMath>
                </a14:m>
                <a:r>
                  <a:rPr lang="en-US" sz="1400" noProof="0" dirty="0"/>
                  <a:t> </a:t>
                </a:r>
              </a:p>
            </p:txBody>
          </p:sp>
        </mc:Choice>
        <mc:Fallback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7DB62530-C3B6-5D71-E611-C3488C681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814" y="3026474"/>
                <a:ext cx="10274372" cy="523220"/>
              </a:xfrm>
              <a:prstGeom prst="rect">
                <a:avLst/>
              </a:prstGeom>
              <a:blipFill>
                <a:blip r:embed="rId2"/>
                <a:stretch>
                  <a:fillRect t="-2381" b="-1190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feld 19">
            <a:extLst>
              <a:ext uri="{FF2B5EF4-FFF2-40B4-BE49-F238E27FC236}">
                <a16:creationId xmlns:a16="http://schemas.microsoft.com/office/drawing/2014/main" id="{8FD569AB-5BF3-0EDE-FB61-DDCF19DDB5AD}"/>
              </a:ext>
            </a:extLst>
          </p:cNvPr>
          <p:cNvSpPr txBox="1"/>
          <p:nvPr/>
        </p:nvSpPr>
        <p:spPr>
          <a:xfrm>
            <a:off x="958814" y="4288357"/>
            <a:ext cx="102743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Per iteration </a:t>
            </a:r>
            <a:r>
              <a:rPr lang="en-US" sz="1400" i="1" dirty="0"/>
              <a:t>r</a:t>
            </a:r>
            <a:r>
              <a:rPr lang="en-US" sz="1400" dirty="0"/>
              <a:t> and domain </a:t>
            </a:r>
            <a:r>
              <a:rPr lang="en-US" sz="1400" i="1" dirty="0" err="1"/>
              <a:t>i</a:t>
            </a:r>
            <a:r>
              <a:rPr lang="en-US" sz="1400" dirty="0"/>
              <a:t>: calculation of </a:t>
            </a:r>
          </a:p>
          <a:p>
            <a:pPr marL="285750" indent="-285750" algn="ctr">
              <a:buFontTx/>
              <a:buChar char="-"/>
            </a:pPr>
            <a:r>
              <a:rPr lang="en-US" sz="1400" dirty="0"/>
              <a:t>(1) the </a:t>
            </a:r>
            <a:r>
              <a:rPr lang="en-US" sz="1400" b="1" dirty="0"/>
              <a:t>Gini coefficient</a:t>
            </a:r>
            <a:endParaRPr lang="en-US" sz="1400" dirty="0"/>
          </a:p>
          <a:p>
            <a:pPr marL="285750" indent="-285750" algn="ctr">
              <a:buFontTx/>
              <a:buChar char="-"/>
            </a:pPr>
            <a:r>
              <a:rPr lang="en-US" sz="1400" dirty="0"/>
              <a:t>(2) a </a:t>
            </a:r>
            <a:r>
              <a:rPr lang="en-US" sz="1400" b="1" dirty="0"/>
              <a:t>bootstrap variance estimator </a:t>
            </a:r>
            <a:r>
              <a:rPr lang="en-US" sz="1400" dirty="0"/>
              <a:t>(</a:t>
            </a:r>
            <a:r>
              <a:rPr lang="en-US" sz="1400" i="1" dirty="0"/>
              <a:t>B</a:t>
            </a:r>
            <a:r>
              <a:rPr lang="en-US" sz="1400" dirty="0"/>
              <a:t> = 100) </a:t>
            </a:r>
          </a:p>
          <a:p>
            <a:pPr marL="285750" indent="-285750" algn="ctr">
              <a:buFontTx/>
              <a:buChar char="-"/>
            </a:pPr>
            <a:r>
              <a:rPr lang="en-US" sz="1400" dirty="0"/>
              <a:t>(3) a </a:t>
            </a:r>
            <a:r>
              <a:rPr lang="en-US" sz="1400" b="1" dirty="0"/>
              <a:t>Jackknife variance estimator </a:t>
            </a:r>
            <a:r>
              <a:rPr lang="en-US" sz="1400" dirty="0"/>
              <a:t>(leave-1-out)</a:t>
            </a:r>
            <a:endParaRPr lang="en-US" sz="1400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A75C0248-8126-F9D0-D05D-3CCDC3A7AF31}"/>
                  </a:ext>
                </a:extLst>
              </p:cNvPr>
              <p:cNvSpPr txBox="1"/>
              <p:nvPr/>
            </p:nvSpPr>
            <p:spPr>
              <a:xfrm>
                <a:off x="958814" y="5979126"/>
                <a:ext cx="10274372" cy="780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Performance evaluation: per domain </a:t>
                </a:r>
                <a:r>
                  <a:rPr lang="en-US" sz="1400" i="1" dirty="0" err="1"/>
                  <a:t>i</a:t>
                </a:r>
                <a:r>
                  <a:rPr lang="en-US" sz="1400" dirty="0"/>
                  <a:t>, calculation of </a:t>
                </a:r>
                <a:r>
                  <a:rPr lang="en-US" sz="1400" b="1" dirty="0"/>
                  <a:t>Monte Carlo Design Variance </a:t>
                </a:r>
                <a:r>
                  <a:rPr lang="en-US" sz="1400" dirty="0"/>
                  <a:t>and 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de-D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𝑏𝑖𝑎𝑠</m:t>
                        </m:r>
                      </m:e>
                      <m:sub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𝑏𝑜𝑜𝑡</m:t>
                        </m:r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de-D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de-DE" sz="1400" dirty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𝑏𝑖𝑎𝑠</m:t>
                        </m:r>
                      </m:e>
                      <m:sub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𝐽𝑎𝑐𝑘</m:t>
                        </m:r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de-D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endParaRPr lang="de-DE" sz="14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de-D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𝑅𝑆𝑀𝐸</m:t>
                        </m:r>
                      </m:e>
                      <m:sub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𝑏𝑜𝑜𝑡</m:t>
                        </m:r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D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de-DE" sz="14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𝑅𝑆𝑀𝐸</m:t>
                        </m:r>
                      </m:e>
                      <m:sub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𝐽𝑎𝑐𝑘</m:t>
                        </m:r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D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de-DE" sz="1400" dirty="0"/>
              </a:p>
            </p:txBody>
          </p:sp>
        </mc:Choice>
        <mc:Fallback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A75C0248-8126-F9D0-D05D-3CCDC3A7A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814" y="5979126"/>
                <a:ext cx="10274372" cy="780727"/>
              </a:xfrm>
              <a:prstGeom prst="rect">
                <a:avLst/>
              </a:prstGeom>
              <a:blipFill>
                <a:blip r:embed="rId3"/>
                <a:stretch>
                  <a:fillRect t="-1587" b="-158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8FD750A9-7426-8EAE-5451-998CC6794DA9}"/>
                  </a:ext>
                </a:extLst>
              </p:cNvPr>
              <p:cNvSpPr txBox="1"/>
              <p:nvPr/>
            </p:nvSpPr>
            <p:spPr>
              <a:xfrm>
                <a:off x="958814" y="355654"/>
                <a:ext cx="1027437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Finite population (</a:t>
                </a:r>
                <a:r>
                  <a:rPr lang="en-US" sz="1400" i="1" dirty="0"/>
                  <a:t>N</a:t>
                </a:r>
                <a:r>
                  <a:rPr lang="en-US" sz="1400" dirty="0"/>
                  <a:t> = 10,000) in </a:t>
                </a:r>
                <a:r>
                  <a:rPr lang="en-US" sz="1400" b="1" dirty="0"/>
                  <a:t>four domains</a:t>
                </a:r>
                <a:r>
                  <a:rPr lang="en-US" sz="14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=50</m:t>
                    </m:r>
                    <m:r>
                      <a:rPr lang="de-DE" sz="1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de-DE" sz="1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00</m:t>
                    </m:r>
                    <m:r>
                      <a:rPr lang="de-DE" sz="1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de-DE" sz="1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50</m:t>
                    </m:r>
                    <m:r>
                      <a:rPr lang="de-DE" sz="1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=6</m:t>
                    </m:r>
                    <m:r>
                      <a:rPr lang="de-DE" sz="1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r>
                  <a:rPr lang="en-US" sz="1400" dirty="0"/>
                  <a:t>0 </a:t>
                </a:r>
              </a:p>
              <a:p>
                <a:pPr algn="ctr"/>
                <a:r>
                  <a:rPr lang="en-US" sz="1400" dirty="0"/>
                  <a:t>Simulation of population with </a:t>
                </a:r>
                <a:r>
                  <a:rPr lang="en-US" sz="1400" b="1" dirty="0"/>
                  <a:t>four different income distributions</a:t>
                </a:r>
                <a:r>
                  <a:rPr lang="en-US" sz="1400" dirty="0"/>
                  <a:t>:</a:t>
                </a:r>
                <a:endParaRPr lang="en-US" sz="1400" noProof="0" dirty="0"/>
              </a:p>
            </p:txBody>
          </p:sp>
        </mc:Choice>
        <mc:Fallback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8FD750A9-7426-8EAE-5451-998CC6794D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814" y="355654"/>
                <a:ext cx="10274372" cy="523220"/>
              </a:xfrm>
              <a:prstGeom prst="rect">
                <a:avLst/>
              </a:prstGeom>
              <a:blipFill>
                <a:blip r:embed="rId4"/>
                <a:stretch>
                  <a:fillRect t="-2326" b="-1162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E8799D7F-D0C2-72C4-B1AB-7AFE281A5C45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205637" y="2186585"/>
            <a:ext cx="0" cy="72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9705468D-69B8-5E1D-3A88-67C7A5084BCE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4700687" y="2186585"/>
            <a:ext cx="0" cy="72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848C2A7B-D8F7-79B8-F60C-4C9DE56BFF7F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7176342" y="2186585"/>
            <a:ext cx="0" cy="72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0E092CD1-565B-B621-FE0E-995EB1F31998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10091055" y="2186585"/>
            <a:ext cx="0" cy="72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Gerade Verbindung mit Pfeil 112">
            <a:extLst>
              <a:ext uri="{FF2B5EF4-FFF2-40B4-BE49-F238E27FC236}">
                <a16:creationId xmlns:a16="http://schemas.microsoft.com/office/drawing/2014/main" id="{20A2FD9F-E97B-8111-B19A-1430DE7054F9}"/>
              </a:ext>
            </a:extLst>
          </p:cNvPr>
          <p:cNvCxnSpPr>
            <a:cxnSpLocks/>
          </p:cNvCxnSpPr>
          <p:nvPr/>
        </p:nvCxnSpPr>
        <p:spPr>
          <a:xfrm>
            <a:off x="2205637" y="3549694"/>
            <a:ext cx="0" cy="72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Gerade Verbindung mit Pfeil 113">
            <a:extLst>
              <a:ext uri="{FF2B5EF4-FFF2-40B4-BE49-F238E27FC236}">
                <a16:creationId xmlns:a16="http://schemas.microsoft.com/office/drawing/2014/main" id="{97A30728-2128-8F49-F5CA-3A6DD1988FF4}"/>
              </a:ext>
            </a:extLst>
          </p:cNvPr>
          <p:cNvCxnSpPr>
            <a:cxnSpLocks/>
          </p:cNvCxnSpPr>
          <p:nvPr/>
        </p:nvCxnSpPr>
        <p:spPr>
          <a:xfrm>
            <a:off x="4700687" y="3549694"/>
            <a:ext cx="0" cy="72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Gerade Verbindung mit Pfeil 114">
            <a:extLst>
              <a:ext uri="{FF2B5EF4-FFF2-40B4-BE49-F238E27FC236}">
                <a16:creationId xmlns:a16="http://schemas.microsoft.com/office/drawing/2014/main" id="{CD7A01E0-C0BE-F649-1144-0A00C04416C3}"/>
              </a:ext>
            </a:extLst>
          </p:cNvPr>
          <p:cNvCxnSpPr>
            <a:cxnSpLocks/>
          </p:cNvCxnSpPr>
          <p:nvPr/>
        </p:nvCxnSpPr>
        <p:spPr>
          <a:xfrm>
            <a:off x="7176342" y="3549694"/>
            <a:ext cx="0" cy="72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Gerade Verbindung mit Pfeil 115">
            <a:extLst>
              <a:ext uri="{FF2B5EF4-FFF2-40B4-BE49-F238E27FC236}">
                <a16:creationId xmlns:a16="http://schemas.microsoft.com/office/drawing/2014/main" id="{A50C255D-79BD-95F8-82BD-FA6BAF794806}"/>
              </a:ext>
            </a:extLst>
          </p:cNvPr>
          <p:cNvCxnSpPr>
            <a:cxnSpLocks/>
          </p:cNvCxnSpPr>
          <p:nvPr/>
        </p:nvCxnSpPr>
        <p:spPr>
          <a:xfrm>
            <a:off x="10091055" y="3549694"/>
            <a:ext cx="0" cy="72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Gerade Verbindung mit Pfeil 116">
            <a:extLst>
              <a:ext uri="{FF2B5EF4-FFF2-40B4-BE49-F238E27FC236}">
                <a16:creationId xmlns:a16="http://schemas.microsoft.com/office/drawing/2014/main" id="{1D9F6850-5890-CC11-173B-13BA69A6E16F}"/>
              </a:ext>
            </a:extLst>
          </p:cNvPr>
          <p:cNvCxnSpPr>
            <a:cxnSpLocks/>
          </p:cNvCxnSpPr>
          <p:nvPr/>
        </p:nvCxnSpPr>
        <p:spPr>
          <a:xfrm>
            <a:off x="2205636" y="5259126"/>
            <a:ext cx="0" cy="72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Gerade Verbindung mit Pfeil 117">
            <a:extLst>
              <a:ext uri="{FF2B5EF4-FFF2-40B4-BE49-F238E27FC236}">
                <a16:creationId xmlns:a16="http://schemas.microsoft.com/office/drawing/2014/main" id="{53898F93-6118-B1E2-B3F2-FE000D0E3AF6}"/>
              </a:ext>
            </a:extLst>
          </p:cNvPr>
          <p:cNvCxnSpPr>
            <a:cxnSpLocks/>
          </p:cNvCxnSpPr>
          <p:nvPr/>
        </p:nvCxnSpPr>
        <p:spPr>
          <a:xfrm>
            <a:off x="4700686" y="5259126"/>
            <a:ext cx="0" cy="72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Gerade Verbindung mit Pfeil 118">
            <a:extLst>
              <a:ext uri="{FF2B5EF4-FFF2-40B4-BE49-F238E27FC236}">
                <a16:creationId xmlns:a16="http://schemas.microsoft.com/office/drawing/2014/main" id="{E5D22C7A-B168-A457-E12D-09553BF76FA1}"/>
              </a:ext>
            </a:extLst>
          </p:cNvPr>
          <p:cNvCxnSpPr>
            <a:cxnSpLocks/>
          </p:cNvCxnSpPr>
          <p:nvPr/>
        </p:nvCxnSpPr>
        <p:spPr>
          <a:xfrm>
            <a:off x="7176341" y="5259126"/>
            <a:ext cx="0" cy="72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Gerade Verbindung mit Pfeil 119">
            <a:extLst>
              <a:ext uri="{FF2B5EF4-FFF2-40B4-BE49-F238E27FC236}">
                <a16:creationId xmlns:a16="http://schemas.microsoft.com/office/drawing/2014/main" id="{A2A67277-F076-ACEE-1202-E3752653F908}"/>
              </a:ext>
            </a:extLst>
          </p:cNvPr>
          <p:cNvCxnSpPr>
            <a:cxnSpLocks/>
          </p:cNvCxnSpPr>
          <p:nvPr/>
        </p:nvCxnSpPr>
        <p:spPr>
          <a:xfrm>
            <a:off x="10091054" y="5259126"/>
            <a:ext cx="0" cy="72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5210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</Words>
  <Application>Microsoft Macintosh PowerPoint</Application>
  <PresentationFormat>Breitbild</PresentationFormat>
  <Paragraphs>15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Ippisch, Niklas</dc:creator>
  <cp:lastModifiedBy>Ippisch, Niklas</cp:lastModifiedBy>
  <cp:revision>4</cp:revision>
  <dcterms:created xsi:type="dcterms:W3CDTF">2026-01-11T16:18:34Z</dcterms:created>
  <dcterms:modified xsi:type="dcterms:W3CDTF">2026-01-13T09:23:57Z</dcterms:modified>
</cp:coreProperties>
</file>